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17d5bdd2e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e17d5bdd2e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e17d5bdd2e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17d5bdd2e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e17d5bdd2e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e17d5bdd2e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17d5bdd2e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e17d5bdd2e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e17d5bdd2e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498080" y="548640"/>
            <a:ext cx="73152" cy="1097280"/>
          </a:xfrm>
          <a:prstGeom prst="rect">
            <a:avLst/>
          </a:prstGeom>
          <a:solidFill>
            <a:srgbClr val="F25C5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818120" y="548640"/>
            <a:ext cx="73152" cy="1097280"/>
          </a:xfrm>
          <a:prstGeom prst="rect">
            <a:avLst/>
          </a:prstGeom>
          <a:solidFill>
            <a:srgbClr val="1C729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138160" y="548640"/>
            <a:ext cx="73152" cy="1097280"/>
          </a:xfrm>
          <a:prstGeom prst="rect">
            <a:avLst/>
          </a:prstGeom>
          <a:solidFill>
            <a:srgbClr val="8DA9C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8458200" y="548640"/>
            <a:ext cx="73152" cy="1097280"/>
          </a:xfrm>
          <a:prstGeom prst="rect">
            <a:avLst/>
          </a:prstGeom>
          <a:solidFill>
            <a:srgbClr val="F25C5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7498080" y="1920240"/>
            <a:ext cx="73152" cy="1097280"/>
          </a:xfrm>
          <a:prstGeom prst="rect">
            <a:avLst/>
          </a:prstGeom>
          <a:solidFill>
            <a:srgbClr val="1C729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7818120" y="1920240"/>
            <a:ext cx="73152" cy="1097280"/>
          </a:xfrm>
          <a:prstGeom prst="rect">
            <a:avLst/>
          </a:prstGeom>
          <a:solidFill>
            <a:srgbClr val="8DA9C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8138160" y="1920240"/>
            <a:ext cx="73152" cy="1097280"/>
          </a:xfrm>
          <a:prstGeom prst="rect">
            <a:avLst/>
          </a:prstGeom>
          <a:solidFill>
            <a:srgbClr val="F25C5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8458200" y="1920240"/>
            <a:ext cx="73152" cy="1097280"/>
          </a:xfrm>
          <a:prstGeom prst="rect">
            <a:avLst/>
          </a:prstGeom>
          <a:solidFill>
            <a:srgbClr val="1C729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7498080" y="3291840"/>
            <a:ext cx="73152" cy="1097280"/>
          </a:xfrm>
          <a:prstGeom prst="rect">
            <a:avLst/>
          </a:prstGeom>
          <a:solidFill>
            <a:srgbClr val="8DA9C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7818120" y="3291840"/>
            <a:ext cx="73152" cy="1097280"/>
          </a:xfrm>
          <a:prstGeom prst="rect">
            <a:avLst/>
          </a:prstGeom>
          <a:solidFill>
            <a:srgbClr val="F25C5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8138160" y="3291840"/>
            <a:ext cx="73152" cy="1097280"/>
          </a:xfrm>
          <a:prstGeom prst="rect">
            <a:avLst/>
          </a:prstGeom>
          <a:solidFill>
            <a:srgbClr val="1C729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8458200" y="3291840"/>
            <a:ext cx="73152" cy="1097280"/>
          </a:xfrm>
          <a:prstGeom prst="rect">
            <a:avLst/>
          </a:prstGeom>
          <a:solidFill>
            <a:srgbClr val="8DA9C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548640" y="6400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A9C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8DA9C4"/>
                </a:solidFill>
                <a:latin typeface="Calibri"/>
                <a:ea typeface="Calibri"/>
                <a:cs typeface="Calibri"/>
                <a:sym typeface="Calibri"/>
              </a:rPr>
              <a:t>AI IN GENOMICS - FINAL PROJECT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48640" y="1188720"/>
            <a:ext cx="67665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Interpretable Features vs.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Protein Language Models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48640" y="2743200"/>
            <a:ext cx="6766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A9C4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8DA9C4"/>
                </a:solidFill>
                <a:latin typeface="Calibri"/>
                <a:ea typeface="Calibri"/>
                <a:cs typeface="Calibri"/>
                <a:sym typeface="Calibri"/>
              </a:rPr>
              <a:t>Comparing handcrafted features and ESM-2 embeddings for missense variant pathogenicity classification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48640" y="3794760"/>
            <a:ext cx="54864" cy="822960"/>
          </a:xfrm>
          <a:prstGeom prst="rect">
            <a:avLst/>
          </a:prstGeom>
          <a:solidFill>
            <a:srgbClr val="F25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731520" y="374904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Georgios Ioannou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A9C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DA9C4"/>
                </a:solidFill>
                <a:latin typeface="Calibri"/>
                <a:ea typeface="Calibri"/>
                <a:cs typeface="Calibri"/>
                <a:sym typeface="Calibri"/>
              </a:rPr>
              <a:t>gi2100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Vedant Jagtap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A9C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DA9C4"/>
                </a:solidFill>
                <a:latin typeface="Calibri"/>
                <a:ea typeface="Calibri"/>
                <a:cs typeface="Calibri"/>
                <a:sym typeface="Calibri"/>
              </a:rPr>
              <a:t>vsj7589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669280" y="45720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DA9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DA9C4"/>
                </a:solidFill>
                <a:latin typeface="Calibri"/>
                <a:ea typeface="Calibri"/>
                <a:cs typeface="Calibri"/>
                <a:sym typeface="Calibri"/>
              </a:rPr>
              <a:t>Team 19  |  May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ACT 1 - THE WORLD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C54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F25C54"/>
                </a:solidFill>
                <a:latin typeface="Calibri"/>
                <a:ea typeface="Calibri"/>
                <a:cs typeface="Calibri"/>
                <a:sym typeface="Calibri"/>
              </a:rPr>
              <a:t>Setting the scene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A patient walks into a clinic.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7200" y="1783080"/>
            <a:ext cx="4754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Their DNA is sequenced. The lab finds </a:t>
            </a:r>
            <a:r>
              <a:rPr b="1" i="0" lang="en-US" sz="1700" u="none" cap="none" strike="noStrike">
                <a:solidFill>
                  <a:srgbClr val="F25C54"/>
                </a:solidFill>
                <a:latin typeface="Calibri"/>
                <a:ea typeface="Calibri"/>
                <a:cs typeface="Calibri"/>
                <a:sym typeface="Calibri"/>
              </a:rPr>
              <a:t>hundreds of differences</a:t>
            </a:r>
            <a:r>
              <a:rPr b="0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 from the reference human genome.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Most are harmless. A few might cause disease. The doctor needs to know </a:t>
            </a:r>
            <a:r>
              <a:rPr b="1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which is which</a:t>
            </a:r>
            <a:r>
              <a:rPr b="0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Today, roughly </a:t>
            </a:r>
            <a:r>
              <a:rPr b="1" i="0" lang="en-US" sz="1700" u="none" cap="none" strike="noStrike">
                <a:solidFill>
                  <a:srgbClr val="F25C54"/>
                </a:solidFill>
                <a:latin typeface="Calibri"/>
                <a:ea typeface="Calibri"/>
                <a:cs typeface="Calibri"/>
                <a:sym typeface="Calibri"/>
              </a:rPr>
              <a:t>40% are reported as 'uncertain'</a:t>
            </a:r>
            <a:r>
              <a:rPr b="0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 - no answer, no action.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486400" y="1783080"/>
            <a:ext cx="3291840" cy="27432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5486400" y="1783080"/>
            <a:ext cx="3291840" cy="109728"/>
          </a:xfrm>
          <a:prstGeom prst="rect">
            <a:avLst/>
          </a:prstGeom>
          <a:solidFill>
            <a:srgbClr val="F25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5715000" y="196596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A9C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DA9C4"/>
                </a:solidFill>
                <a:latin typeface="Calibri"/>
                <a:ea typeface="Calibri"/>
                <a:cs typeface="Calibri"/>
                <a:sym typeface="Calibri"/>
              </a:rPr>
              <a:t>THE BOTTLENECK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715000" y="2286000"/>
            <a:ext cx="2834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Cambria"/>
              <a:buNone/>
            </a:pPr>
            <a:r>
              <a:rPr b="1" i="0" lang="en-US" sz="7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~40%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715000" y="3291840"/>
            <a:ext cx="2834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A9C4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DA9C4"/>
                </a:solidFill>
                <a:latin typeface="Calibri"/>
                <a:ea typeface="Calibri"/>
                <a:cs typeface="Calibri"/>
                <a:sym typeface="Calibri"/>
              </a:rPr>
              <a:t>of clinically reported variants are 'variants of uncertain significance'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715000" y="406908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That's the gap we want AI to close.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ACT 1 - THE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C54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F25C54"/>
                </a:solidFill>
                <a:latin typeface="Calibri"/>
                <a:ea typeface="Calibri"/>
                <a:cs typeface="Calibri"/>
                <a:sym typeface="Calibri"/>
              </a:rPr>
              <a:t>Zooming 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Which letter changes break the protein?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57200" y="1783080"/>
            <a:ext cx="42976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We focus on </a:t>
            </a:r>
            <a:r>
              <a:rPr b="1" i="0" lang="en-US" sz="17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missense variants</a:t>
            </a:r>
            <a:r>
              <a:rPr b="0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 - changes that swap one amino acid in a protein for another.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Some break the protein </a:t>
            </a:r>
            <a:r>
              <a:rPr b="1" i="0" lang="en-US" sz="1700" u="none" cap="none" strike="noStrike">
                <a:solidFill>
                  <a:srgbClr val="F25C54"/>
                </a:solidFill>
                <a:latin typeface="Calibri"/>
                <a:ea typeface="Calibri"/>
                <a:cs typeface="Calibri"/>
                <a:sym typeface="Calibri"/>
              </a:rPr>
              <a:t>(pathogenic).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Others are tolerated </a:t>
            </a:r>
            <a:r>
              <a:rPr b="1" i="0" lang="en-US" sz="17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(benign).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Telling them apart </a:t>
            </a:r>
            <a:r>
              <a:rPr b="1" i="1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from sequence alone</a:t>
            </a:r>
            <a:r>
              <a:rPr b="0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 is the open problem.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937760" y="1828800"/>
            <a:ext cx="3840480" cy="502920"/>
          </a:xfrm>
          <a:prstGeom prst="rect">
            <a:avLst/>
          </a:prstGeom>
          <a:solidFill>
            <a:srgbClr val="EEF4F8"/>
          </a:solidFill>
          <a:ln cap="flat" cmpd="sng" w="12700">
            <a:solidFill>
              <a:srgbClr val="8DA9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4937760" y="182880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0B2545"/>
                </a:solidFill>
                <a:latin typeface="Consolas"/>
                <a:ea typeface="Consolas"/>
                <a:cs typeface="Consolas"/>
                <a:sym typeface="Consolas"/>
              </a:rPr>
              <a:t>...K-L-V-A-G-T-R-N...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937760" y="23591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18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7184"/>
                </a:solidFill>
                <a:latin typeface="Calibri"/>
                <a:ea typeface="Calibri"/>
                <a:cs typeface="Calibri"/>
                <a:sym typeface="Calibri"/>
              </a:rPr>
              <a:t>Reference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937760" y="2743200"/>
            <a:ext cx="3840480" cy="502920"/>
          </a:xfrm>
          <a:prstGeom prst="rect">
            <a:avLst/>
          </a:prstGeom>
          <a:solidFill>
            <a:srgbClr val="FCE9E7"/>
          </a:solidFill>
          <a:ln cap="flat" cmpd="sng" w="12700">
            <a:solidFill>
              <a:srgbClr val="F25C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4937760" y="274320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0B2545"/>
                </a:solidFill>
                <a:latin typeface="Consolas"/>
                <a:ea typeface="Consolas"/>
                <a:cs typeface="Consolas"/>
                <a:sym typeface="Consolas"/>
              </a:rPr>
              <a:t>...K-L-V-</a:t>
            </a:r>
            <a:r>
              <a:rPr b="1" i="0" lang="en-US" sz="1700" u="none" cap="none" strike="noStrike">
                <a:solidFill>
                  <a:srgbClr val="F25C54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en-US" sz="1700" u="none" cap="none" strike="noStrike">
                <a:solidFill>
                  <a:srgbClr val="0B2545"/>
                </a:solidFill>
                <a:latin typeface="Consolas"/>
                <a:ea typeface="Consolas"/>
                <a:cs typeface="Consolas"/>
                <a:sym typeface="Consolas"/>
              </a:rPr>
              <a:t>-G-T-R-N...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937760" y="32735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5C5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5C54"/>
                </a:solidFill>
                <a:latin typeface="Calibri"/>
                <a:ea typeface="Calibri"/>
                <a:cs typeface="Calibri"/>
                <a:sym typeface="Calibri"/>
              </a:rPr>
              <a:t>Pathogenic - protein breaks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937760" y="3657600"/>
            <a:ext cx="3840480" cy="502920"/>
          </a:xfrm>
          <a:prstGeom prst="rect">
            <a:avLst/>
          </a:prstGeom>
          <a:solidFill>
            <a:srgbClr val="E6F2F0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937760" y="365760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0B2545"/>
                </a:solidFill>
                <a:latin typeface="Consolas"/>
                <a:ea typeface="Consolas"/>
                <a:cs typeface="Consolas"/>
                <a:sym typeface="Consolas"/>
              </a:rPr>
              <a:t>...K-L-V-</a:t>
            </a:r>
            <a:r>
              <a:rPr b="1" i="0" lang="en-US" sz="17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700" u="none" cap="none" strike="noStrike">
                <a:solidFill>
                  <a:srgbClr val="0B2545"/>
                </a:solidFill>
                <a:latin typeface="Consolas"/>
                <a:ea typeface="Consolas"/>
                <a:cs typeface="Consolas"/>
                <a:sym typeface="Consolas"/>
              </a:rPr>
              <a:t>-G-T-R-N...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937760" y="41879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Benign - protein still works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ACT 1 - THE QUEST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C54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F25C54"/>
                </a:solidFill>
                <a:latin typeface="Calibri"/>
                <a:ea typeface="Calibri"/>
                <a:cs typeface="Calibri"/>
                <a:sym typeface="Calibri"/>
              </a:rPr>
              <a:t>What we set out to answer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Two questions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457200" y="1783080"/>
            <a:ext cx="8321040" cy="118872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457200" y="1783080"/>
            <a:ext cx="109728" cy="1188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777240" y="1874520"/>
            <a:ext cx="1280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5500"/>
              <a:buFont typeface="Cambria"/>
              <a:buNone/>
            </a:pPr>
            <a:r>
              <a:rPr b="1" i="0" lang="en-US" sz="55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Q1</a:t>
            </a:r>
            <a:endParaRPr b="0" i="0" sz="5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2194560" y="1874520"/>
            <a:ext cx="6492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How much signal lives in simple, interpretable features?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Identity of the amino acids, substitution score, local composition, position. 62 dimensions.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57200" y="3154680"/>
            <a:ext cx="8321040" cy="118872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457200" y="3154680"/>
            <a:ext cx="109728" cy="1188720"/>
          </a:xfrm>
          <a:prstGeom prst="rect">
            <a:avLst/>
          </a:prstGeom>
          <a:solidFill>
            <a:srgbClr val="F25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777240" y="3246120"/>
            <a:ext cx="1280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C54"/>
              </a:buClr>
              <a:buSzPts val="5500"/>
              <a:buFont typeface="Cambria"/>
              <a:buNone/>
            </a:pPr>
            <a:r>
              <a:rPr b="1" i="0" lang="en-US" sz="5500" u="none" cap="none" strike="noStrike">
                <a:solidFill>
                  <a:srgbClr val="F25C54"/>
                </a:solidFill>
                <a:latin typeface="Cambria"/>
                <a:ea typeface="Cambria"/>
                <a:cs typeface="Cambria"/>
                <a:sym typeface="Cambria"/>
              </a:rPr>
              <a:t>Q2</a:t>
            </a:r>
            <a:endParaRPr b="0" i="0" sz="5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2194560" y="3246120"/>
            <a:ext cx="6492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Does ESM-2 actually help when tested on new genes?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Evaluated on entire genes held out from training - the clinically realistic setting.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457200" y="429768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18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7184"/>
                </a:solidFill>
                <a:latin typeface="Calibri"/>
                <a:ea typeface="Calibri"/>
                <a:cs typeface="Calibri"/>
                <a:sym typeface="Calibri"/>
              </a:rPr>
              <a:t>The tradeoff: interpretability vs. compute vs. performance vs. generalization.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OUR APPROACH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C54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F25C54"/>
                </a:solidFill>
                <a:latin typeface="Calibri"/>
                <a:ea typeface="Calibri"/>
                <a:cs typeface="Calibri"/>
                <a:sym typeface="Calibri"/>
              </a:rPr>
              <a:t>Bridge to methods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What we built, and what makes it different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457200" y="1783080"/>
            <a:ext cx="4114800" cy="278892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457200" y="1783080"/>
            <a:ext cx="4114800" cy="914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640080" y="19659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WHAT WE BUILT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40080" y="2331720"/>
            <a:ext cx="37490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Four classifiers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trained on 193K labelled variants - then compared head-to-head against AlphaMissense and CADD on the same held-out test set.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4663440" y="1783080"/>
            <a:ext cx="4114800" cy="2788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4663440" y="1783080"/>
            <a:ext cx="4114800" cy="91440"/>
          </a:xfrm>
          <a:prstGeom prst="rect">
            <a:avLst/>
          </a:prstGeom>
          <a:solidFill>
            <a:srgbClr val="F25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4846320" y="19659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C5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5C54"/>
                </a:solidFill>
                <a:latin typeface="Calibri"/>
                <a:ea typeface="Calibri"/>
                <a:cs typeface="Calibri"/>
                <a:sym typeface="Calibri"/>
              </a:rPr>
              <a:t>WHY IT'S DIFFERENT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846320" y="2404872"/>
            <a:ext cx="292608" cy="292608"/>
          </a:xfrm>
          <a:prstGeom prst="ellipse">
            <a:avLst/>
          </a:prstGeom>
          <a:solidFill>
            <a:srgbClr val="F25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4846320" y="240487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5230368" y="2331720"/>
            <a:ext cx="347472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Strict gene-disjoint test - no variant from a training gene appears at test time.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4846320" y="3118104"/>
            <a:ext cx="292608" cy="292608"/>
          </a:xfrm>
          <a:prstGeom prst="ellipse">
            <a:avLst/>
          </a:prstGeom>
          <a:solidFill>
            <a:srgbClr val="F25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4846320" y="311810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230368" y="3044952"/>
            <a:ext cx="347472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Feature-family ablation directly quantifies the interpretability-vs-performance tradeoff.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846320" y="3831336"/>
            <a:ext cx="292608" cy="292608"/>
          </a:xfrm>
          <a:prstGeom prst="ellipse">
            <a:avLst/>
          </a:prstGeom>
          <a:solidFill>
            <a:srgbClr val="F25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4846320" y="383133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230368" y="3758184"/>
            <a:ext cx="347472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 empirically test the UR50 pretraining contamination concern - not just flag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ACT 2 - THE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C54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F25C54"/>
                </a:solidFill>
                <a:latin typeface="Calibri"/>
                <a:ea typeface="Calibri"/>
                <a:cs typeface="Calibri"/>
                <a:sym typeface="Calibri"/>
              </a:rPr>
              <a:t>Step 1: assembling clean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From 9 million rows to 193K usable variants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06880"/>
            <a:ext cx="8839204" cy="2917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ACT 2 - THE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C54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F25C54"/>
                </a:solidFill>
                <a:latin typeface="Calibri"/>
                <a:ea typeface="Calibri"/>
                <a:cs typeface="Calibri"/>
                <a:sym typeface="Calibri"/>
              </a:rPr>
              <a:t>Step 2: building a fair test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We hold out entire genes, not just variants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457200" y="1828800"/>
            <a:ext cx="5824728" cy="5943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457200" y="1828800"/>
            <a:ext cx="5824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70%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281928" y="1828800"/>
            <a:ext cx="832104" cy="59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6281928" y="1828800"/>
            <a:ext cx="83210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 10%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7114032" y="1828800"/>
            <a:ext cx="1664208" cy="594360"/>
          </a:xfrm>
          <a:prstGeom prst="rect">
            <a:avLst/>
          </a:prstGeom>
          <a:solidFill>
            <a:srgbClr val="F25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"/>
          <p:cNvSpPr/>
          <p:nvPr/>
        </p:nvSpPr>
        <p:spPr>
          <a:xfrm>
            <a:off x="7114032" y="1828800"/>
            <a:ext cx="166420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20%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57200" y="2606040"/>
            <a:ext cx="2682240" cy="11430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457200" y="2606040"/>
            <a:ext cx="2682240" cy="7315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"/>
          <p:cNvSpPr/>
          <p:nvPr/>
        </p:nvSpPr>
        <p:spPr>
          <a:xfrm>
            <a:off x="457200" y="2743200"/>
            <a:ext cx="2682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18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B7184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457200" y="2971800"/>
            <a:ext cx="268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135,418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457200" y="3429000"/>
            <a:ext cx="2682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10,425 genes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3276600" y="2606040"/>
            <a:ext cx="2682240" cy="11430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"/>
          <p:cNvSpPr/>
          <p:nvPr/>
        </p:nvSpPr>
        <p:spPr>
          <a:xfrm>
            <a:off x="3276600" y="2606040"/>
            <a:ext cx="268224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3276600" y="2743200"/>
            <a:ext cx="2682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18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B7184"/>
                </a:solidFill>
                <a:latin typeface="Calibri"/>
                <a:ea typeface="Calibri"/>
                <a:cs typeface="Calibri"/>
                <a:sym typeface="Calibri"/>
              </a:rPr>
              <a:t>Val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3276600" y="2971800"/>
            <a:ext cx="268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19,539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3276600" y="3429000"/>
            <a:ext cx="2682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1,489 genes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6096000" y="2606040"/>
            <a:ext cx="2682240" cy="11430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6096000" y="2606040"/>
            <a:ext cx="2682240" cy="73152"/>
          </a:xfrm>
          <a:prstGeom prst="rect">
            <a:avLst/>
          </a:prstGeom>
          <a:solidFill>
            <a:srgbClr val="F25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6096000" y="2743200"/>
            <a:ext cx="2682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18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B7184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6096000" y="2971800"/>
            <a:ext cx="268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38,526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6096000" y="3429000"/>
            <a:ext cx="2682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5C5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5C54"/>
                </a:solidFill>
                <a:latin typeface="Calibri"/>
                <a:ea typeface="Calibri"/>
                <a:cs typeface="Calibri"/>
                <a:sym typeface="Calibri"/>
              </a:rPr>
              <a:t>2,979 genes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457200" y="3931920"/>
            <a:ext cx="8321040" cy="7772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731520" y="393192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C5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5C54"/>
                </a:solidFill>
                <a:latin typeface="Calibri"/>
                <a:ea typeface="Calibri"/>
                <a:cs typeface="Calibri"/>
                <a:sym typeface="Calibri"/>
              </a:rPr>
              <a:t>Why it matters: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 any gene appears in both train and test, the model can cheat by memorizing gene-specific patterns. By splitting on whole genes, we force every test gene to be brand new.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ACT 2 - THE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C54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F25C54"/>
                </a:solidFill>
                <a:latin typeface="Calibri"/>
                <a:ea typeface="Calibri"/>
                <a:cs typeface="Calibri"/>
                <a:sym typeface="Calibri"/>
              </a:rPr>
              <a:t>Step 3: lining up the contestants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Four of ours, two outside references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457200" y="1783080"/>
            <a:ext cx="8321040" cy="4114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640080" y="178308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A9C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DA9C4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3108960" y="178308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A9C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DA9C4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5577840" y="178308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A9C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DA9C4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457200" y="2194560"/>
            <a:ext cx="8321040" cy="4572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3108960" y="21945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62-d handcrafted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5577840" y="21945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L2 LR, class-balanced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8046720" y="2286000"/>
            <a:ext cx="731520" cy="274320"/>
          </a:xfrm>
          <a:prstGeom prst="rect">
            <a:avLst/>
          </a:prstGeom>
          <a:solidFill>
            <a:srgbClr val="8DA9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8046720" y="22860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457200" y="2651760"/>
            <a:ext cx="8321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640080" y="2651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3108960" y="2651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62-d handcrafted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5577840" y="2651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500 trees, tuned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8046720" y="2743200"/>
            <a:ext cx="731520" cy="274320"/>
          </a:xfrm>
          <a:prstGeom prst="rect">
            <a:avLst/>
          </a:prstGeom>
          <a:solidFill>
            <a:srgbClr val="8DA9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8046720" y="27432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457200" y="3108960"/>
            <a:ext cx="8321040" cy="4572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640080" y="31089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ESM-2 head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3108960" y="31089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1280-d frozen emb.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5577840" y="31089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MLP, AdamW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8046720" y="3200400"/>
            <a:ext cx="73152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8046720" y="32004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NEURAL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457200" y="3566160"/>
            <a:ext cx="8321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640080" y="35661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Combined head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3108960" y="35661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1342-d (concat)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5577840" y="35661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MLP, wider 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8046720" y="3657600"/>
            <a:ext cx="73152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8046720" y="36576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NEURAL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457200" y="4206240"/>
            <a:ext cx="8321040" cy="548640"/>
          </a:xfrm>
          <a:prstGeom prst="rect">
            <a:avLst/>
          </a:prstGeom>
          <a:solidFill>
            <a:srgbClr val="FCE9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457200" y="4206240"/>
            <a:ext cx="109728" cy="548640"/>
          </a:xfrm>
          <a:prstGeom prst="rect">
            <a:avLst/>
          </a:prstGeom>
          <a:solidFill>
            <a:srgbClr val="F25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731520" y="420624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C5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5C54"/>
                </a:solidFill>
                <a:latin typeface="Calibri"/>
                <a:ea typeface="Calibri"/>
                <a:cs typeface="Calibri"/>
                <a:sym typeface="Calibri"/>
              </a:rPr>
              <a:t>Outside references: </a:t>
            </a:r>
            <a:r>
              <a:rPr b="1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AlphaMissense</a:t>
            </a:r>
            <a:r>
              <a:rPr b="0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CADD</a:t>
            </a:r>
            <a:r>
              <a:rPr b="0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 - we score them on the same test variants to know where the field stands.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/>
          <p:nvPr/>
        </p:nvSpPr>
        <p:spPr>
          <a:xfrm>
            <a:off x="457200" y="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ACT 3 - FINDING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457200" y="27432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C54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F25C54"/>
                </a:solidFill>
                <a:latin typeface="Calibri"/>
                <a:ea typeface="Calibri"/>
                <a:cs typeface="Calibri"/>
                <a:sym typeface="Calibri"/>
              </a:rPr>
              <a:t>Headline result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457200" y="5486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ESM-2 closes most of the gap to AlphaMissense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63" y="1326075"/>
            <a:ext cx="9024075" cy="346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"/>
          <p:cNvSpPr/>
          <p:nvPr/>
        </p:nvSpPr>
        <p:spPr>
          <a:xfrm>
            <a:off x="457200" y="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ACT 3 - FINDING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457200" y="27432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C54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F25C54"/>
                </a:solidFill>
                <a:latin typeface="Calibri"/>
                <a:ea typeface="Calibri"/>
                <a:cs typeface="Calibri"/>
                <a:sym typeface="Calibri"/>
              </a:rPr>
              <a:t>Answering Q1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457200" y="5486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Simple features get you 81% of the way there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450" y="1210375"/>
            <a:ext cx="8131500" cy="399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/>
          <p:nvPr/>
        </p:nvSpPr>
        <p:spPr>
          <a:xfrm>
            <a:off x="457200" y="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ACT 3 - FINDING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457200" y="27432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C54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F25C54"/>
                </a:solidFill>
                <a:latin typeface="Calibri"/>
                <a:ea typeface="Calibri"/>
                <a:cs typeface="Calibri"/>
                <a:sym typeface="Calibri"/>
              </a:rPr>
              <a:t>Looking inside the gap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457200" y="5486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When RF and ESM-2 conflict, ESM-2 wins more often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1326075"/>
            <a:ext cx="9144000" cy="3762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/>
          <p:nvPr/>
        </p:nvSpPr>
        <p:spPr>
          <a:xfrm>
            <a:off x="457200" y="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ACT 3 - FINDING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457200" y="27432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C54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F25C54"/>
                </a:solidFill>
                <a:latin typeface="Calibri"/>
                <a:ea typeface="Calibri"/>
                <a:cs typeface="Calibri"/>
                <a:sym typeface="Calibri"/>
              </a:rPr>
              <a:t>Answering Q2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57200" y="5486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ESM-2 generalizes evenly across genes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650" y="1196825"/>
            <a:ext cx="7416700" cy="389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/>
          <p:nvPr/>
        </p:nvSpPr>
        <p:spPr>
          <a:xfrm>
            <a:off x="457200" y="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ACT 3 - THE CONTAMINATION CHECK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457200" y="27432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C54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F25C54"/>
                </a:solidFill>
                <a:latin typeface="Calibri"/>
                <a:ea typeface="Calibri"/>
                <a:cs typeface="Calibri"/>
                <a:sym typeface="Calibri"/>
              </a:rPr>
              <a:t>But wait...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457200" y="5486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Is ESM-2 just winning on well-studied genes?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800" y="1174525"/>
            <a:ext cx="6704400" cy="396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A9C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DA9C4"/>
                </a:solidFill>
                <a:latin typeface="Calibri"/>
                <a:ea typeface="Calibri"/>
                <a:cs typeface="Calibri"/>
                <a:sym typeface="Calibri"/>
              </a:rPr>
              <a:t>ACT 4 - WRAPPING 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6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Three things we learned, plus what's next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457200" y="1463040"/>
            <a:ext cx="8321100" cy="777300"/>
          </a:xfrm>
          <a:prstGeom prst="rect">
            <a:avLst/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6"/>
          <p:cNvSpPr/>
          <p:nvPr/>
        </p:nvSpPr>
        <p:spPr>
          <a:xfrm>
            <a:off x="658368" y="1645920"/>
            <a:ext cx="411600" cy="411600"/>
          </a:xfrm>
          <a:prstGeom prst="ellipse">
            <a:avLst/>
          </a:prstGeom>
          <a:solidFill>
            <a:srgbClr val="F25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6"/>
          <p:cNvSpPr/>
          <p:nvPr/>
        </p:nvSpPr>
        <p:spPr>
          <a:xfrm>
            <a:off x="658368" y="164592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1280160" y="1536192"/>
            <a:ext cx="7360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Simple features carry real signal. </a:t>
            </a:r>
            <a:r>
              <a:rPr b="0" i="0" lang="en-US" sz="1200" u="none" cap="none" strike="noStrike">
                <a:solidFill>
                  <a:srgbClr val="8DA9C4"/>
                </a:solidFill>
                <a:latin typeface="Calibri"/>
                <a:ea typeface="Calibri"/>
                <a:cs typeface="Calibri"/>
                <a:sym typeface="Calibri"/>
              </a:rPr>
              <a:t>A 62-d handcrafted vector reaches AUROC 0.850 - and just three of those features get you to 81% of that.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457200" y="2350008"/>
            <a:ext cx="8321100" cy="777300"/>
          </a:xfrm>
          <a:prstGeom prst="rect">
            <a:avLst/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6"/>
          <p:cNvSpPr/>
          <p:nvPr/>
        </p:nvSpPr>
        <p:spPr>
          <a:xfrm>
            <a:off x="658368" y="2532888"/>
            <a:ext cx="411600" cy="411600"/>
          </a:xfrm>
          <a:prstGeom prst="ellipse">
            <a:avLst/>
          </a:prstGeom>
          <a:solidFill>
            <a:srgbClr val="F25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6"/>
          <p:cNvSpPr/>
          <p:nvPr/>
        </p:nvSpPr>
        <p:spPr>
          <a:xfrm>
            <a:off x="658368" y="2532888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6"/>
          <p:cNvSpPr/>
          <p:nvPr/>
        </p:nvSpPr>
        <p:spPr>
          <a:xfrm>
            <a:off x="1280160" y="2423160"/>
            <a:ext cx="7360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ESM-2 truly generalizes. </a:t>
            </a:r>
            <a:r>
              <a:rPr b="0" i="0" lang="en-US" sz="1200" u="none" cap="none" strike="noStrike">
                <a:solidFill>
                  <a:srgbClr val="8DA9C4"/>
                </a:solidFill>
                <a:latin typeface="Calibri"/>
                <a:ea typeface="Calibri"/>
                <a:cs typeface="Calibri"/>
                <a:sym typeface="Calibri"/>
              </a:rPr>
              <a:t>+0.089 AUROC over the random forest on held-out genes (p &lt; 0.001). The advantage isn't from UR50 contamination.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457200" y="3236976"/>
            <a:ext cx="8321100" cy="777300"/>
          </a:xfrm>
          <a:prstGeom prst="rect">
            <a:avLst/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6"/>
          <p:cNvSpPr/>
          <p:nvPr/>
        </p:nvSpPr>
        <p:spPr>
          <a:xfrm>
            <a:off x="658368" y="3419856"/>
            <a:ext cx="411600" cy="411600"/>
          </a:xfrm>
          <a:prstGeom prst="ellipse">
            <a:avLst/>
          </a:prstGeom>
          <a:solidFill>
            <a:srgbClr val="F25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6"/>
          <p:cNvSpPr/>
          <p:nvPr/>
        </p:nvSpPr>
        <p:spPr>
          <a:xfrm>
            <a:off x="658368" y="3419856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1280160" y="3310128"/>
            <a:ext cx="7360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Combining is best. </a:t>
            </a:r>
            <a:r>
              <a:rPr b="0" i="0" lang="en-US" sz="1200" u="none" cap="none" strike="noStrike">
                <a:solidFill>
                  <a:srgbClr val="8DA9C4"/>
                </a:solidFill>
                <a:latin typeface="Calibri"/>
                <a:ea typeface="Calibri"/>
                <a:cs typeface="Calibri"/>
                <a:sym typeface="Calibri"/>
              </a:rPr>
              <a:t>Concatenating handcrafted features with ESM-2 embeddings gives another +0.015 - they carry complementary information.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457200" y="4389120"/>
            <a:ext cx="4023360" cy="457200"/>
          </a:xfrm>
          <a:prstGeom prst="rect">
            <a:avLst/>
          </a:prstGeom>
          <a:solidFill>
            <a:srgbClr val="0B2545"/>
          </a:solidFill>
          <a:ln cap="flat" cmpd="sng" w="12700">
            <a:solidFill>
              <a:srgbClr val="8DA9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6"/>
          <p:cNvSpPr/>
          <p:nvPr/>
        </p:nvSpPr>
        <p:spPr>
          <a:xfrm>
            <a:off x="594360" y="438912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C5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5C54"/>
                </a:solidFill>
                <a:latin typeface="Calibri"/>
                <a:ea typeface="Calibri"/>
                <a:cs typeface="Calibri"/>
                <a:sym typeface="Calibri"/>
              </a:rPr>
              <a:t>LIMITS  </a:t>
            </a:r>
            <a:r>
              <a:rPr b="0" i="0" lang="en-US" sz="1200" u="none" cap="none" strike="noStrike">
                <a:solidFill>
                  <a:srgbClr val="8DA9C4"/>
                </a:solidFill>
                <a:latin typeface="Calibri"/>
                <a:ea typeface="Calibri"/>
                <a:cs typeface="Calibri"/>
                <a:sym typeface="Calibri"/>
              </a:rPr>
              <a:t>ClinVar bias, optimistic references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4754880" y="4389120"/>
            <a:ext cx="4023360" cy="457200"/>
          </a:xfrm>
          <a:prstGeom prst="rect">
            <a:avLst/>
          </a:prstGeom>
          <a:solidFill>
            <a:srgbClr val="0B2545"/>
          </a:solidFill>
          <a:ln cap="flat" cmpd="sng" w="12700">
            <a:solidFill>
              <a:srgbClr val="8DA9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6"/>
          <p:cNvSpPr/>
          <p:nvPr/>
        </p:nvSpPr>
        <p:spPr>
          <a:xfrm>
            <a:off x="4892040" y="438912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5C5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5C54"/>
                </a:solidFill>
                <a:latin typeface="Calibri"/>
                <a:ea typeface="Calibri"/>
                <a:cs typeface="Calibri"/>
                <a:sym typeface="Calibri"/>
              </a:rPr>
              <a:t>NEXT  </a:t>
            </a:r>
            <a:r>
              <a:rPr b="0" i="0" lang="en-US" sz="1200" u="none" cap="none" strike="noStrike">
                <a:solidFill>
                  <a:srgbClr val="8DA9C4"/>
                </a:solidFill>
                <a:latin typeface="Calibri"/>
                <a:ea typeface="Calibri"/>
                <a:cs typeface="Calibri"/>
                <a:sym typeface="Calibri"/>
              </a:rPr>
              <a:t>Fine-tune ESM-2 end-to-end on ClinVar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"/>
          <p:cNvSpPr/>
          <p:nvPr/>
        </p:nvSpPr>
        <p:spPr>
          <a:xfrm>
            <a:off x="7498080" y="548640"/>
            <a:ext cx="73200" cy="1097400"/>
          </a:xfrm>
          <a:prstGeom prst="rect">
            <a:avLst/>
          </a:prstGeom>
          <a:solidFill>
            <a:srgbClr val="F25C54">
              <a:alpha val="7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7"/>
          <p:cNvSpPr/>
          <p:nvPr/>
        </p:nvSpPr>
        <p:spPr>
          <a:xfrm>
            <a:off x="7818120" y="548640"/>
            <a:ext cx="73200" cy="1097400"/>
          </a:xfrm>
          <a:prstGeom prst="rect">
            <a:avLst/>
          </a:prstGeom>
          <a:solidFill>
            <a:srgbClr val="1C7293">
              <a:alpha val="7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7"/>
          <p:cNvSpPr/>
          <p:nvPr/>
        </p:nvSpPr>
        <p:spPr>
          <a:xfrm>
            <a:off x="8138160" y="548640"/>
            <a:ext cx="73200" cy="1097400"/>
          </a:xfrm>
          <a:prstGeom prst="rect">
            <a:avLst/>
          </a:prstGeom>
          <a:solidFill>
            <a:srgbClr val="8DA9C4">
              <a:alpha val="7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7"/>
          <p:cNvSpPr/>
          <p:nvPr/>
        </p:nvSpPr>
        <p:spPr>
          <a:xfrm>
            <a:off x="8458200" y="548640"/>
            <a:ext cx="73200" cy="1097400"/>
          </a:xfrm>
          <a:prstGeom prst="rect">
            <a:avLst/>
          </a:prstGeom>
          <a:solidFill>
            <a:srgbClr val="F25C54">
              <a:alpha val="7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7"/>
          <p:cNvSpPr/>
          <p:nvPr/>
        </p:nvSpPr>
        <p:spPr>
          <a:xfrm>
            <a:off x="7498080" y="1920240"/>
            <a:ext cx="73200" cy="1097400"/>
          </a:xfrm>
          <a:prstGeom prst="rect">
            <a:avLst/>
          </a:prstGeom>
          <a:solidFill>
            <a:srgbClr val="1C7293">
              <a:alpha val="7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7"/>
          <p:cNvSpPr/>
          <p:nvPr/>
        </p:nvSpPr>
        <p:spPr>
          <a:xfrm>
            <a:off x="7818120" y="1920240"/>
            <a:ext cx="73200" cy="1097400"/>
          </a:xfrm>
          <a:prstGeom prst="rect">
            <a:avLst/>
          </a:prstGeom>
          <a:solidFill>
            <a:srgbClr val="8DA9C4">
              <a:alpha val="7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7"/>
          <p:cNvSpPr/>
          <p:nvPr/>
        </p:nvSpPr>
        <p:spPr>
          <a:xfrm>
            <a:off x="8138160" y="1920240"/>
            <a:ext cx="73200" cy="1097400"/>
          </a:xfrm>
          <a:prstGeom prst="rect">
            <a:avLst/>
          </a:prstGeom>
          <a:solidFill>
            <a:srgbClr val="F25C54">
              <a:alpha val="7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7"/>
          <p:cNvSpPr/>
          <p:nvPr/>
        </p:nvSpPr>
        <p:spPr>
          <a:xfrm>
            <a:off x="8458200" y="1920240"/>
            <a:ext cx="73200" cy="1097400"/>
          </a:xfrm>
          <a:prstGeom prst="rect">
            <a:avLst/>
          </a:prstGeom>
          <a:solidFill>
            <a:srgbClr val="1C7293">
              <a:alpha val="7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7"/>
          <p:cNvSpPr/>
          <p:nvPr/>
        </p:nvSpPr>
        <p:spPr>
          <a:xfrm>
            <a:off x="7498080" y="3291840"/>
            <a:ext cx="73200" cy="1097400"/>
          </a:xfrm>
          <a:prstGeom prst="rect">
            <a:avLst/>
          </a:prstGeom>
          <a:solidFill>
            <a:srgbClr val="8DA9C4">
              <a:alpha val="7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7"/>
          <p:cNvSpPr/>
          <p:nvPr/>
        </p:nvSpPr>
        <p:spPr>
          <a:xfrm>
            <a:off x="7818120" y="3291840"/>
            <a:ext cx="73200" cy="1097400"/>
          </a:xfrm>
          <a:prstGeom prst="rect">
            <a:avLst/>
          </a:prstGeom>
          <a:solidFill>
            <a:srgbClr val="F25C54">
              <a:alpha val="7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7"/>
          <p:cNvSpPr/>
          <p:nvPr/>
        </p:nvSpPr>
        <p:spPr>
          <a:xfrm>
            <a:off x="8138160" y="3291840"/>
            <a:ext cx="73200" cy="1097400"/>
          </a:xfrm>
          <a:prstGeom prst="rect">
            <a:avLst/>
          </a:prstGeom>
          <a:solidFill>
            <a:srgbClr val="1C7293">
              <a:alpha val="7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7"/>
          <p:cNvSpPr/>
          <p:nvPr/>
        </p:nvSpPr>
        <p:spPr>
          <a:xfrm>
            <a:off x="8458200" y="3291840"/>
            <a:ext cx="73200" cy="1097400"/>
          </a:xfrm>
          <a:prstGeom prst="rect">
            <a:avLst/>
          </a:prstGeom>
          <a:solidFill>
            <a:srgbClr val="8DA9C4">
              <a:alpha val="7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7"/>
          <p:cNvSpPr/>
          <p:nvPr/>
        </p:nvSpPr>
        <p:spPr>
          <a:xfrm>
            <a:off x="1188740" y="1840195"/>
            <a:ext cx="6766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5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You!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